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gbk6/O1+Hm6tD/9UkXUXdW+Jk8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16967D-0D67-47A5-9272-22950A2BD70F}">
  <a:tblStyle styleId="{7416967D-0D67-47A5-9272-22950A2BD7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E3B0973-723C-4AE1-8B71-FC63D40B0D7F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" name="Google Shape;4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322df73c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g3d322df73c1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322df73c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g3d322df73c1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322df73c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d322df73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322df73c1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322df73c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4"/>
          <p:cNvSpPr txBox="1"/>
          <p:nvPr>
            <p:ph type="ctrTitle"/>
          </p:nvPr>
        </p:nvSpPr>
        <p:spPr>
          <a:xfrm>
            <a:off x="914400" y="22860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1B57B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" type="subTitle"/>
          </p:nvPr>
        </p:nvSpPr>
        <p:spPr>
          <a:xfrm>
            <a:off x="1828800" y="38100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Verdana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9pPr>
          </a:lstStyle>
          <a:p/>
        </p:txBody>
      </p:sp>
      <p:sp>
        <p:nvSpPr>
          <p:cNvPr id="23" name="Google Shape;23;p26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9pPr>
          </a:lstStyle>
          <a:p/>
        </p:txBody>
      </p:sp>
      <p:sp>
        <p:nvSpPr>
          <p:cNvPr id="27" name="Google Shape;27;p27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9pPr>
          </a:lstStyle>
          <a:p/>
        </p:txBody>
      </p:sp>
      <p:sp>
        <p:nvSpPr>
          <p:cNvPr id="28" name="Google Shape;28;p27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9pPr>
          </a:lstStyle>
          <a:p/>
        </p:txBody>
      </p:sp>
      <p:sp>
        <p:nvSpPr>
          <p:cNvPr id="29" name="Google Shape;29;p27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9pPr>
          </a:lstStyle>
          <a:p/>
        </p:txBody>
      </p:sp>
      <p:sp>
        <p:nvSpPr>
          <p:cNvPr id="36" name="Google Shape;36;p30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31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b="0" i="0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–"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pic>
        <p:nvPicPr>
          <p:cNvPr id="8" name="Google Shape;8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kaggle.com/datasets/mennaahmed23/baby-crying-sounds-dataset" TargetMode="External"/><Relationship Id="rId4" Type="http://schemas.openxmlformats.org/officeDocument/2006/relationships/hyperlink" Target="https://www.kaggle.com/datasets/mennaahmed23/baby-crying-sounds-dataset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963084" y="4406901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52125" lIns="104275" spcFirstLastPara="1" rIns="104275" wrap="square" tIns="52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IN" sz="2900" u="none" cap="none" strike="noStrike">
                <a:solidFill>
                  <a:srgbClr val="1B57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</a:t>
            </a:r>
            <a:endParaRPr b="1" i="0" sz="2900" u="none" cap="none" strike="noStrike">
              <a:solidFill>
                <a:srgbClr val="1B57B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lang="en-IN" sz="2900">
                <a:solidFill>
                  <a:srgbClr val="1B57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</a:t>
            </a:r>
            <a:r>
              <a:rPr b="1" i="0" lang="en-IN" sz="2900" u="none" cap="none" strike="noStrike">
                <a:solidFill>
                  <a:srgbClr val="1B57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</a:t>
            </a:r>
            <a:endParaRPr b="1" i="0" sz="2900" u="none" cap="none" strike="noStrike">
              <a:solidFill>
                <a:srgbClr val="1B57B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1011109" y="2906714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52125" lIns="104275" spcFirstLastPara="1" rIns="104275" wrap="square" tIns="521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IN" sz="2400">
                <a:solidFill>
                  <a:srgbClr val="1D21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UIT2818 </a:t>
            </a:r>
            <a:r>
              <a:rPr b="1" i="0" lang="en-IN" sz="2400" u="none" cap="none" strike="noStrike">
                <a:solidFill>
                  <a:srgbClr val="1D21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Work - Phase II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72110" y="2178711"/>
            <a:ext cx="11047800" cy="16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125" lIns="104275" spcFirstLastPara="1" rIns="104275" wrap="square" tIns="52125">
            <a:noAutofit/>
          </a:bodyPr>
          <a:lstStyle/>
          <a:p>
            <a:pPr indent="0" lvl="0" marL="0" marR="0" rtl="0" algn="ctr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IN" sz="31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INFANT CRY VOCALISATION</a:t>
            </a:r>
            <a:endParaRPr b="0" i="0" sz="31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 txBox="1"/>
          <p:nvPr/>
        </p:nvSpPr>
        <p:spPr>
          <a:xfrm>
            <a:off x="609599" y="689707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125" lIns="104275" spcFirstLastPara="1" rIns="104275" wrap="square" tIns="52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endParaRPr b="1" i="0" sz="3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2657888" y="1579352"/>
            <a:ext cx="75672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125" lIns="104275" spcFirstLastPara="1" rIns="104275" wrap="square" tIns="52125">
            <a:noAutofit/>
          </a:bodyPr>
          <a:lstStyle/>
          <a:p>
            <a:pPr indent="-354012" lvl="0" marL="35401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800"/>
              <a:buFont typeface="Times New Roman"/>
              <a:buChar char="▪"/>
            </a:pPr>
            <a:r>
              <a:rPr b="0" i="0" lang="en-I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KAVYASRI.V.J				3122 22 5002 056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4012" lvl="0" marL="35401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800"/>
              <a:buFont typeface="Times New Roman"/>
              <a:buChar char="▪"/>
            </a:pPr>
            <a:r>
              <a:rPr b="0" i="0" lang="en-I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KISHORE.P                      3122 22 5002 060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653799" y="310443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125" lIns="104275" spcFirstLastPara="1" rIns="104275" wrap="square" tIns="52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</a:t>
            </a:r>
            <a:endParaRPr b="1" i="0" sz="32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1812113" y="3973152"/>
            <a:ext cx="75672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125" lIns="104275" spcFirstLastPara="1" rIns="104275" wrap="square" tIns="52125">
            <a:noAutofit/>
          </a:bodyPr>
          <a:lstStyle/>
          <a:p>
            <a:pPr indent="0" lvl="0" marL="35401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I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Dr.R.Srinivasan,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5401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I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Professor,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5401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IN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Department of Information Technology.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/>
          <p:nvPr/>
        </p:nvSpPr>
        <p:spPr>
          <a:xfrm>
            <a:off x="609600" y="467259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125" lIns="104275" spcFirstLastPara="1" rIns="104275" wrap="square" tIns="52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0" i="0" sz="2900" u="none" cap="none" strike="noStrike">
              <a:solidFill>
                <a:srgbClr val="1B57B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609600" y="1876363"/>
            <a:ext cx="10972800" cy="40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2125" lIns="104275" spcFirstLastPara="1" rIns="104275" wrap="square" tIns="521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Times New Roman"/>
              <a:buChar char="▪"/>
            </a:pPr>
            <a:r>
              <a:rPr b="0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Infants express their needs through crying, but interpreting the exact reason—whether it's hunger, pain, or discomfort—can be challenging and varies based on individual judgment.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Times New Roman"/>
              <a:buChar char="▪"/>
            </a:pPr>
            <a:r>
              <a:rPr b="0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proposes a deep learning–based solution that analyzes baby cry audio using signal processing techniques like Entropy features.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Times New Roman"/>
              <a:buChar char="▪"/>
            </a:pPr>
            <a:r>
              <a:rPr b="0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classifying cries into emotional categories in real time, the system aims to provide accurate, objective support to caregivers and healthcare professionals, ultimately enhancing the quality of infant care.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322df73c1_0_15"/>
          <p:cNvSpPr txBox="1"/>
          <p:nvPr/>
        </p:nvSpPr>
        <p:spPr>
          <a:xfrm>
            <a:off x="508000" y="2286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125" lIns="104275" spcFirstLastPara="1" rIns="104275" wrap="square" tIns="5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LITERATURE SURVEY</a:t>
            </a:r>
            <a:endParaRPr sz="2900">
              <a:solidFill>
                <a:srgbClr val="1B57B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7" name="Google Shape;77;g3d322df73c1_0_15"/>
          <p:cNvGraphicFramePr/>
          <p:nvPr/>
        </p:nvGraphicFramePr>
        <p:xfrm>
          <a:off x="809025" y="1198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{7416967D-0D67-47A5-9272-22950A2BD70F}</a:tableStyleId>
              </a:tblPr>
              <a:tblGrid>
                <a:gridCol w="2099275"/>
                <a:gridCol w="2057400"/>
                <a:gridCol w="2057400"/>
                <a:gridCol w="2057400"/>
                <a:gridCol w="2057400"/>
              </a:tblGrid>
              <a:tr h="15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SUMMARY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7CC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Learning for Infant Cry Recognition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Yun-Chia Liang, Iven Wijaya, Ming-Tao Yang, Josue Rodolfo Cuevas Juarez, Hou-Tai Chang</a:t>
                      </a:r>
                      <a:br>
                        <a:rPr lang="en-IN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2022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Used deep learning models (CNN, LSTM, and ANN) trained on MFCC features extracted from infant cry audio to classify different needs and health status.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 and LSTM models achieved high accuracy (~95%) in identifying infant health status and moderate accuracy (~60%) in recognizing specific needs from cry sounds.</a:t>
                      </a:r>
                      <a:br>
                        <a:rPr lang="en-I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Infant Cry Classification Using CNN–RNN</a:t>
                      </a:r>
                      <a:endParaRPr sz="1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Tusty Nadia Maghfira, T. Basaruddin, Adila Krisnadhi</a:t>
                      </a:r>
                      <a:endParaRPr sz="1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2020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hybrid deep learning model combining Convolutional Neural Networks and Recurrent Neural Networks is used with 5-fold cross-validation on infant cry spectrograms.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proposed CNN-RNN model achieved 94.97% accuracy in classifying five types of infant cries, outperforming previous methods.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" name="Google Shape;82;g3d322df73c1_0_22"/>
          <p:cNvGraphicFramePr/>
          <p:nvPr/>
        </p:nvGraphicFramePr>
        <p:xfrm>
          <a:off x="369525" y="20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{7416967D-0D67-47A5-9272-22950A2BD70F}</a:tableStyleId>
              </a:tblPr>
              <a:tblGrid>
                <a:gridCol w="2057400"/>
                <a:gridCol w="2057400"/>
                <a:gridCol w="2057400"/>
                <a:gridCol w="2057400"/>
                <a:gridCol w="2057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review of infant cry analysis and classification</a:t>
                      </a:r>
                      <a:br>
                        <a:rPr lang="en-IN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Chunyan Ji, Thosini Bamunu Mudiyanselage, Yutong Gao, Yi Pan</a:t>
                      </a:r>
                      <a:endParaRPr sz="1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2021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 comprehensive survey of infant cry classification techniques using machine learning and neural networks, including preprocessing, feature extraction (MFCC, spectrogram, prosodic features), and various classifiers (SVM, CNN, RNN).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This review discusses state-of-the-art approaches for infant cry analysis, highlighting the importance of cry-based health diagnostics and the need for large, labeled datasets for accurate classification.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Learning Assisted Neonatal Cry Classification via Support Vector Machine Models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Ashwini K, P. M. Durai Raj Vincent, Kathiravan Srinivasan, Chuan-Yu Chang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2021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STFT-based spectrograms are input to a CNN for feature extraction, followed by SVM (RBF/linear/polynomial) for classifying infant cries.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CNN-SVM (RBF) achieved 88.89% accuracy, outperforming other methods for classifying limited neonatal cry data.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Efficient Classification of Neonates Cry Signal using Computer Assisted Grouped Support Vector Network</a:t>
                      </a:r>
                      <a:endParaRPr i="1" sz="13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R. V. Ranjitha, S. P. Jeba Sadhana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2021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Used grouped Support Vector Machine (SVM) with feature extraction from cry signals to classify neonatal distress.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3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system classifies infant cries into pain, hunger, and wet-diaper categories with improved accuracy using grouped SVM.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/>
        </p:nvSpPr>
        <p:spPr>
          <a:xfrm>
            <a:off x="670100" y="362559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125" lIns="104275" spcFirstLastPara="1" rIns="104275" wrap="square" tIns="52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      WORKFLOW</a:t>
            </a:r>
            <a:endParaRPr b="0" i="0" sz="2900" u="none" cap="none" strike="noStrike">
              <a:solidFill>
                <a:srgbClr val="1B57B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" name="Google Shape;88;p5" title="fyptransparent.drawi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7975" y="1465825"/>
            <a:ext cx="10177050" cy="44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/>
        </p:nvSpPr>
        <p:spPr>
          <a:xfrm>
            <a:off x="570825" y="268725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125" lIns="104275" spcFirstLastPara="1" rIns="104275" wrap="square" tIns="52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DESCRIPTION</a:t>
            </a:r>
            <a:endParaRPr b="0" i="0" sz="2900" u="none" cap="none" strike="noStrike">
              <a:solidFill>
                <a:srgbClr val="1B57B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703150" y="1130675"/>
            <a:ext cx="5218200" cy="48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52125" lIns="104275" spcFirstLastPara="1" rIns="104275" wrap="square" tIns="521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r>
              <a:rPr b="0" i="0" lang="en-I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en-IN" sz="2000" u="none" cap="none" strike="noStrike">
                <a:solidFill>
                  <a:srgbClr val="0000CC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IN" sz="1800" u="sng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Kaggle – Baby Crying Sounds Dataset</a:t>
            </a: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IN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Overview:</a:t>
            </a:r>
            <a:endParaRPr b="1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labeled dataset containing real infant cry recordings categorized into emotional physical needs</a:t>
            </a:r>
            <a:b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training of classification models for infant vocal emotion recognition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6893975" y="1130675"/>
            <a:ext cx="5268600" cy="45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Details: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Participants</a:t>
            </a: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Collected from multiple infants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No. of Samples</a:t>
            </a: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996 audio files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Emotion Categories</a:t>
            </a: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6 distinct cry reasons (belly pain,burping,cold_hot,discomfort,hungry,tired) 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Audio Format</a:t>
            </a: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WAV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Duration</a:t>
            </a: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~5–8 seconds per clip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Annotations</a:t>
            </a: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Each file is labeled with the corresponding emotion class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Noise Handling</a:t>
            </a: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Some recordings may include environmental background noise</a:t>
            </a:r>
            <a:b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99420" y="954525"/>
            <a:ext cx="5960700" cy="3851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747375" y="954525"/>
            <a:ext cx="5268600" cy="3851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8" name="Google Shape;98;p6"/>
          <p:cNvPicPr preferRelativeResize="0"/>
          <p:nvPr/>
        </p:nvPicPr>
        <p:blipFill rotWithShape="1">
          <a:blip r:embed="rId5">
            <a:alphaModFix/>
          </a:blip>
          <a:srcRect b="8859" l="0" r="0" t="0"/>
          <a:stretch/>
        </p:blipFill>
        <p:spPr>
          <a:xfrm>
            <a:off x="2449100" y="5004725"/>
            <a:ext cx="2929299" cy="1584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58825" y="5004725"/>
            <a:ext cx="2642424" cy="154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 sz="3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  </a:t>
            </a:r>
            <a:r>
              <a:rPr b="1" lang="en-IN" sz="3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AUGMENTATION</a:t>
            </a:r>
            <a:endParaRPr/>
          </a:p>
        </p:txBody>
      </p:sp>
      <p:sp>
        <p:nvSpPr>
          <p:cNvPr id="105" name="Google Shape;105;p7"/>
          <p:cNvSpPr txBox="1"/>
          <p:nvPr>
            <p:ph idx="1" type="body"/>
          </p:nvPr>
        </p:nvSpPr>
        <p:spPr>
          <a:xfrm>
            <a:off x="609600" y="1598126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b="1" lang="en-IN" sz="2600">
                <a:latin typeface="Arial"/>
                <a:ea typeface="Arial"/>
                <a:cs typeface="Arial"/>
                <a:sym typeface="Arial"/>
              </a:rPr>
              <a:t>Time Stretching</a:t>
            </a:r>
            <a:r>
              <a:rPr lang="en-IN" sz="2600">
                <a:latin typeface="Arial"/>
                <a:ea typeface="Arial"/>
                <a:cs typeface="Arial"/>
                <a:sym typeface="Arial"/>
              </a:rPr>
              <a:t> – Alters playback speed without changing pitch.</a:t>
            </a:r>
            <a:br>
              <a:rPr lang="en-IN" sz="2600">
                <a:latin typeface="Arial"/>
                <a:ea typeface="Arial"/>
                <a:cs typeface="Arial"/>
                <a:sym typeface="Arial"/>
              </a:rPr>
            </a:br>
            <a:r>
              <a:rPr lang="en-IN" sz="2600">
                <a:latin typeface="Arial"/>
                <a:ea typeface="Arial"/>
                <a:cs typeface="Arial"/>
                <a:sym typeface="Arial"/>
              </a:rPr>
              <a:t> → Helps model adapt to variations in crying pace.</a:t>
            </a:r>
            <a:br>
              <a:rPr lang="en-IN" sz="2600">
                <a:latin typeface="Arial"/>
                <a:ea typeface="Arial"/>
                <a:cs typeface="Arial"/>
                <a:sym typeface="Arial"/>
              </a:rPr>
            </a:b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b="1" lang="en-IN" sz="2600">
                <a:latin typeface="Arial"/>
                <a:ea typeface="Arial"/>
                <a:cs typeface="Arial"/>
                <a:sym typeface="Arial"/>
              </a:rPr>
              <a:t>Pitch Shifting</a:t>
            </a:r>
            <a:r>
              <a:rPr lang="en-IN" sz="2600">
                <a:latin typeface="Arial"/>
                <a:ea typeface="Arial"/>
                <a:cs typeface="Arial"/>
                <a:sym typeface="Arial"/>
              </a:rPr>
              <a:t> – Raises or lowers the pitch of the cry.</a:t>
            </a:r>
            <a:br>
              <a:rPr lang="en-IN" sz="2600">
                <a:latin typeface="Arial"/>
                <a:ea typeface="Arial"/>
                <a:cs typeface="Arial"/>
                <a:sym typeface="Arial"/>
              </a:rPr>
            </a:br>
            <a:r>
              <a:rPr lang="en-IN" sz="2600">
                <a:latin typeface="Arial"/>
                <a:ea typeface="Arial"/>
                <a:cs typeface="Arial"/>
                <a:sym typeface="Arial"/>
              </a:rPr>
              <a:t> → Simulates vocal variations among different infants.</a:t>
            </a:r>
            <a:br>
              <a:rPr lang="en-IN" sz="2600">
                <a:latin typeface="Arial"/>
                <a:ea typeface="Arial"/>
                <a:cs typeface="Arial"/>
                <a:sym typeface="Arial"/>
              </a:rPr>
            </a:b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b="1" lang="en-IN" sz="2600">
                <a:latin typeface="Arial"/>
                <a:ea typeface="Arial"/>
                <a:cs typeface="Arial"/>
                <a:sym typeface="Arial"/>
              </a:rPr>
              <a:t>Background Noise Addition</a:t>
            </a:r>
            <a:r>
              <a:rPr lang="en-IN" sz="2600">
                <a:latin typeface="Arial"/>
                <a:ea typeface="Arial"/>
                <a:cs typeface="Arial"/>
                <a:sym typeface="Arial"/>
              </a:rPr>
              <a:t> – Adds mild environmental noise.</a:t>
            </a:r>
            <a:br>
              <a:rPr lang="en-IN" sz="2600">
                <a:latin typeface="Arial"/>
                <a:ea typeface="Arial"/>
                <a:cs typeface="Arial"/>
                <a:sym typeface="Arial"/>
              </a:rPr>
            </a:br>
            <a:r>
              <a:rPr lang="en-IN" sz="2600">
                <a:latin typeface="Arial"/>
                <a:ea typeface="Arial"/>
                <a:cs typeface="Arial"/>
                <a:sym typeface="Arial"/>
              </a:rPr>
              <a:t> → Improves robustness in real-world hospital or home settings.</a:t>
            </a:r>
            <a:br>
              <a:rPr lang="en-IN" sz="2600">
                <a:latin typeface="Arial"/>
                <a:ea typeface="Arial"/>
                <a:cs typeface="Arial"/>
                <a:sym typeface="Arial"/>
              </a:rPr>
            </a:b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b="1" lang="en-IN" sz="2600">
                <a:latin typeface="Arial"/>
                <a:ea typeface="Arial"/>
                <a:cs typeface="Arial"/>
                <a:sym typeface="Arial"/>
              </a:rPr>
              <a:t>Time Shifting</a:t>
            </a:r>
            <a:r>
              <a:rPr lang="en-IN" sz="2600">
                <a:latin typeface="Arial"/>
                <a:ea typeface="Arial"/>
                <a:cs typeface="Arial"/>
                <a:sym typeface="Arial"/>
              </a:rPr>
              <a:t> – Shifts audio slightly forward or backward in time.</a:t>
            </a:r>
            <a:br>
              <a:rPr lang="en-IN" sz="2600">
                <a:latin typeface="Arial"/>
                <a:ea typeface="Arial"/>
                <a:cs typeface="Arial"/>
                <a:sym typeface="Arial"/>
              </a:rPr>
            </a:br>
            <a:r>
              <a:rPr lang="en-IN" sz="2600">
                <a:latin typeface="Arial"/>
                <a:ea typeface="Arial"/>
                <a:cs typeface="Arial"/>
                <a:sym typeface="Arial"/>
              </a:rPr>
              <a:t> → Ensures model invariance to temporal misalignment.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3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type="title"/>
          </p:nvPr>
        </p:nvSpPr>
        <p:spPr>
          <a:xfrm>
            <a:off x="678300" y="-1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 sz="3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   </a:t>
            </a:r>
            <a:r>
              <a:rPr b="1" lang="en-IN" sz="3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 EXTRACTION</a:t>
            </a:r>
            <a:endParaRPr/>
          </a:p>
        </p:txBody>
      </p:sp>
      <p:sp>
        <p:nvSpPr>
          <p:cNvPr id="111" name="Google Shape;111;p8"/>
          <p:cNvSpPr txBox="1"/>
          <p:nvPr>
            <p:ph idx="1" type="body"/>
          </p:nvPr>
        </p:nvSpPr>
        <p:spPr>
          <a:xfrm>
            <a:off x="609600" y="818400"/>
            <a:ext cx="10972800" cy="4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b="1" lang="en-IN" sz="1900">
                <a:latin typeface="Times New Roman"/>
                <a:ea typeface="Times New Roman"/>
                <a:cs typeface="Times New Roman"/>
                <a:sym typeface="Times New Roman"/>
              </a:rPr>
              <a:t>Spectral Entropy</a:t>
            </a:r>
            <a:r>
              <a:rPr lang="en-IN" sz="1900">
                <a:latin typeface="Times New Roman"/>
                <a:ea typeface="Times New Roman"/>
                <a:cs typeface="Times New Roman"/>
                <a:sym typeface="Times New Roman"/>
              </a:rPr>
              <a:t> – Measures frame-wise randomness of the power spectrum to capture cry signal complexity.</a:t>
            </a:r>
            <a:br>
              <a:rPr lang="en-IN" sz="19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b="1" lang="en-IN" sz="1900">
                <a:latin typeface="Times New Roman"/>
                <a:ea typeface="Times New Roman"/>
                <a:cs typeface="Times New Roman"/>
                <a:sym typeface="Times New Roman"/>
              </a:rPr>
              <a:t>Delta Entropy</a:t>
            </a:r>
            <a:r>
              <a:rPr lang="en-IN" sz="1900">
                <a:latin typeface="Times New Roman"/>
                <a:ea typeface="Times New Roman"/>
                <a:cs typeface="Times New Roman"/>
                <a:sym typeface="Times New Roman"/>
              </a:rPr>
              <a:t> – Computes temporal change in spectral entropy to model dynamic cry transitions.</a:t>
            </a:r>
            <a:br>
              <a:rPr lang="en-IN" sz="19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b="1" lang="en-IN" sz="1900">
                <a:latin typeface="Times New Roman"/>
                <a:ea typeface="Times New Roman"/>
                <a:cs typeface="Times New Roman"/>
                <a:sym typeface="Times New Roman"/>
              </a:rPr>
              <a:t>Shannon Entropy</a:t>
            </a:r>
            <a:r>
              <a:rPr lang="en-IN" sz="1900">
                <a:latin typeface="Times New Roman"/>
                <a:ea typeface="Times New Roman"/>
                <a:cs typeface="Times New Roman"/>
                <a:sym typeface="Times New Roman"/>
              </a:rPr>
              <a:t> – Global entropy of the entire cry signal representing overall uncertainty.</a:t>
            </a:r>
            <a:br>
              <a:rPr lang="en-IN" sz="19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b="1" lang="en-IN" sz="1900">
                <a:latin typeface="Times New Roman"/>
                <a:ea typeface="Times New Roman"/>
                <a:cs typeface="Times New Roman"/>
                <a:sym typeface="Times New Roman"/>
              </a:rPr>
              <a:t>Multi-Scale Entropy (MSE)</a:t>
            </a:r>
            <a:r>
              <a:rPr lang="en-IN" sz="1900">
                <a:latin typeface="Times New Roman"/>
                <a:ea typeface="Times New Roman"/>
                <a:cs typeface="Times New Roman"/>
                <a:sym typeface="Times New Roman"/>
              </a:rPr>
              <a:t> – Extracts entropy at multiple temporal scales to capture short- and long-term complexity.</a:t>
            </a:r>
            <a:br>
              <a:rPr lang="en-IN" sz="19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b="1" lang="en-IN" sz="1900">
                <a:latin typeface="Times New Roman"/>
                <a:ea typeface="Times New Roman"/>
                <a:cs typeface="Times New Roman"/>
                <a:sym typeface="Times New Roman"/>
              </a:rPr>
              <a:t>Band-Wise Spectral Entropy</a:t>
            </a:r>
            <a:r>
              <a:rPr lang="en-IN" sz="1900">
                <a:latin typeface="Times New Roman"/>
                <a:ea typeface="Times New Roman"/>
                <a:cs typeface="Times New Roman"/>
                <a:sym typeface="Times New Roman"/>
              </a:rPr>
              <a:t> – Computes entropy across frequency sub-bands to encode frequency-specific energy distribution.</a:t>
            </a:r>
            <a:br>
              <a:rPr lang="en-IN" sz="19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b="1" lang="en-IN" sz="1900">
                <a:latin typeface="Times New Roman"/>
                <a:ea typeface="Times New Roman"/>
                <a:cs typeface="Times New Roman"/>
                <a:sym typeface="Times New Roman"/>
              </a:rPr>
              <a:t>Dynamic Time Warping (DTW)</a:t>
            </a:r>
            <a:r>
              <a:rPr lang="en-IN" sz="1900">
                <a:latin typeface="Times New Roman"/>
                <a:ea typeface="Times New Roman"/>
                <a:cs typeface="Times New Roman"/>
                <a:sym typeface="Times New Roman"/>
              </a:rPr>
              <a:t> – Measures temporal similarity between entropy sequences and class prototypes to handle time misalignment.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/>
          <p:nvPr>
            <p:ph type="title"/>
          </p:nvPr>
        </p:nvSpPr>
        <p:spPr>
          <a:xfrm>
            <a:off x="741100" y="-18846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 sz="3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EXPERIMENTATION RESULTS</a:t>
            </a:r>
            <a:endParaRPr/>
          </a:p>
        </p:txBody>
      </p:sp>
      <p:graphicFrame>
        <p:nvGraphicFramePr>
          <p:cNvPr id="117" name="Google Shape;117;p9"/>
          <p:cNvGraphicFramePr/>
          <p:nvPr/>
        </p:nvGraphicFramePr>
        <p:xfrm>
          <a:off x="565125" y="81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{0E3B0973-723C-4AE1-8B71-FC63D40B0D7F}</a:tableStyleId>
              </a:tblPr>
              <a:tblGrid>
                <a:gridCol w="1700600"/>
                <a:gridCol w="1346975"/>
                <a:gridCol w="904875"/>
                <a:gridCol w="1478425"/>
                <a:gridCol w="1187575"/>
                <a:gridCol w="1041000"/>
                <a:gridCol w="1407450"/>
                <a:gridCol w="11666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1400" u="none" cap="none" strike="noStrike"/>
                        <a:t>Feature Type</a:t>
                      </a:r>
                      <a:endParaRPr b="1"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1400" u="none" cap="none" strike="noStrike"/>
                        <a:t>Classifier</a:t>
                      </a:r>
                      <a:endParaRPr b="1"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1400" u="none" cap="none" strike="noStrike"/>
                        <a:t>Train Acc.</a:t>
                      </a:r>
                      <a:endParaRPr b="1"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1400" u="none" cap="none" strike="noStrike"/>
                        <a:t>Train Loss</a:t>
                      </a:r>
                      <a:endParaRPr b="1"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1400" u="none" cap="none" strike="noStrike"/>
                        <a:t>Val Acc.</a:t>
                      </a:r>
                      <a:endParaRPr b="1"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1400" u="none" cap="none" strike="noStrike"/>
                        <a:t>Val Loss</a:t>
                      </a:r>
                      <a:endParaRPr b="1"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1400" u="none" cap="none" strike="noStrike"/>
                        <a:t>Test Acc.</a:t>
                      </a:r>
                      <a:endParaRPr b="1"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1400" u="none" cap="none" strike="noStrike"/>
                        <a:t>Test</a:t>
                      </a:r>
                      <a:endParaRPr b="1" sz="1400" u="none" cap="none" strike="noStrike"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IN" sz="1400" u="none" cap="none" strike="noStrike"/>
                        <a:t>Loss</a:t>
                      </a:r>
                      <a:endParaRPr b="1"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Entropy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LSTM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80.04%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0.4909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81.06%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0.4843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79.70%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0.5052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DTW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LSTM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43.56%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1.2046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42.12%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1.1872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47.27%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1.1568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Entropy and DTW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LSTM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75.83%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0.6926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73.46%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0.4945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74.53%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0.4885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Entropy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CNN-LSTM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77.77%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0.6020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60.46%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1.4671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72.12%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0.8209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Entropy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CNN-BiLSTM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66.25%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1.1655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40.08%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1.3458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59.70%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1.2503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Entropy and DTW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CNN-BiLSTM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86.21%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0.7117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55.67%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0.8578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77.88%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0.9067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DTW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MLP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21.21%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1.7717-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16.29%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1.7929-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20.76%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1.7731-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DTW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MLP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23.75%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1.7421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19.70%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1.7793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20.61%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1.7686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Entropy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MLP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39.28%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1.5002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29.39%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1.6490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30.61%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1.6150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DTW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CNN-BiLSTM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21.02%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1.7722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23.03%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1.7691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18.18%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1.7748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Multi-template DTW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CNN-BiLSTM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24.32%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1.7457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21.36%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1.7742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25.45%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cap="none" strike="noStrike"/>
                        <a:t>1.7522</a:t>
                      </a:r>
                      <a:endParaRPr sz="1400" u="none" cap="none" strike="noStrike"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 txBox="1"/>
          <p:nvPr>
            <p:ph type="title"/>
          </p:nvPr>
        </p:nvSpPr>
        <p:spPr>
          <a:xfrm>
            <a:off x="609600" y="-22826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 sz="3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CODE SNIPPETS -  FEATURE EXTRACTION</a:t>
            </a:r>
            <a:endParaRPr/>
          </a:p>
        </p:txBody>
      </p:sp>
      <p:pic>
        <p:nvPicPr>
          <p:cNvPr id="123" name="Google Shape;1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600" y="1015375"/>
            <a:ext cx="5514300" cy="519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5900" y="1015375"/>
            <a:ext cx="5376975" cy="519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 txBox="1"/>
          <p:nvPr>
            <p:ph type="title"/>
          </p:nvPr>
        </p:nvSpPr>
        <p:spPr>
          <a:xfrm>
            <a:off x="609600" y="3203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 sz="3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CODE SNIPPETS - LSTM MODEL ARCH.</a:t>
            </a:r>
            <a:endParaRPr/>
          </a:p>
        </p:txBody>
      </p:sp>
      <p:pic>
        <p:nvPicPr>
          <p:cNvPr id="130" name="Google Shape;1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2800" y="1463350"/>
            <a:ext cx="6017051" cy="482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 txBox="1"/>
          <p:nvPr/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b="0" i="0" sz="4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6" name="Google Shape;1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388" y="1570038"/>
            <a:ext cx="11325225" cy="4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 txBox="1"/>
          <p:nvPr/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b="0" i="0" sz="4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2" name="Google Shape;1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050" y="1417638"/>
            <a:ext cx="6008701" cy="5135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6001" y="1889338"/>
            <a:ext cx="52959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450" y="1570038"/>
            <a:ext cx="6008701" cy="5135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/>
          <p:nvPr>
            <p:ph type="title"/>
          </p:nvPr>
        </p:nvSpPr>
        <p:spPr>
          <a:xfrm>
            <a:off x="609600" y="3203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 sz="3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SNIPPETS - CNN-BiLSTM MODEL ARCH.</a:t>
            </a:r>
            <a:endParaRPr/>
          </a:p>
        </p:txBody>
      </p:sp>
      <p:pic>
        <p:nvPicPr>
          <p:cNvPr id="150" name="Google Shape;1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1251" y="1375300"/>
            <a:ext cx="5106299" cy="508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 sz="3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/>
          </a:p>
        </p:txBody>
      </p:sp>
      <p:pic>
        <p:nvPicPr>
          <p:cNvPr id="156" name="Google Shape;1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500" y="1348938"/>
            <a:ext cx="11325225" cy="4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IN" sz="3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/>
          </a:p>
        </p:txBody>
      </p:sp>
      <p:pic>
        <p:nvPicPr>
          <p:cNvPr id="162" name="Google Shape;1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350" y="1318163"/>
            <a:ext cx="6008701" cy="5135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2326" y="2286288"/>
            <a:ext cx="5600148" cy="3199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/>
        </p:nvSpPr>
        <p:spPr>
          <a:xfrm>
            <a:off x="609600" y="53163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</a:t>
            </a:r>
            <a:endParaRPr b="0" i="0" sz="4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9" name="Google Shape;16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950" y="1250125"/>
            <a:ext cx="10840449" cy="496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/>
        </p:nvSpPr>
        <p:spPr>
          <a:xfrm>
            <a:off x="609600" y="-23396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</a:t>
            </a:r>
            <a:endParaRPr b="0" i="0" sz="4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5" name="Google Shape;1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061438"/>
            <a:ext cx="11887201" cy="5089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/>
        </p:nvSpPr>
        <p:spPr>
          <a:xfrm>
            <a:off x="609600" y="-23396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</a:t>
            </a:r>
            <a:endParaRPr b="0" i="0" sz="4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061438"/>
            <a:ext cx="11887200" cy="5294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322df73c1_0_0"/>
          <p:cNvSpPr txBox="1"/>
          <p:nvPr/>
        </p:nvSpPr>
        <p:spPr>
          <a:xfrm>
            <a:off x="609600" y="-23396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IN" sz="3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</a:t>
            </a:r>
            <a:endParaRPr b="0" i="0" sz="4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7" name="Google Shape;187;g3d322df73c1_0_0"/>
          <p:cNvSpPr txBox="1"/>
          <p:nvPr/>
        </p:nvSpPr>
        <p:spPr>
          <a:xfrm>
            <a:off x="898925" y="1391900"/>
            <a:ext cx="10683600" cy="3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Infant cry patterns show high variability, making consistent classification difficult.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Single feature approaches fail to capture the complete characteristics of cry signals.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Variations in audio quality, length, and noise introduce preprocessing challenges.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Model performance varies across architectures, affecting generalization and reliability.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/>
        </p:nvSpPr>
        <p:spPr>
          <a:xfrm>
            <a:off x="609600" y="-23396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CONFERENCE/JOURNAL PUBLICATION</a:t>
            </a:r>
            <a:endParaRPr b="0" i="0" sz="4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65375" y="909050"/>
            <a:ext cx="11328900" cy="52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Conference: 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14th International Conference on Computing, Engineering and Technology (ICCET 2026) dated March 22–23, 2026 in Prince Shri Venkateshwara Padmavathy Engineering College, Chennai Collaborating with Samarkand State University, Uzbekistan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Publication: 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Xplore Digital Library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Title:</a:t>
            </a: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Infant Cry Classification Using Entropy and Dynamic Time Warping Features with Machine Learning and Deep Learning Models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Status:</a:t>
            </a:r>
            <a:b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Completed the online presentation in </a:t>
            </a: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conference and applied fo</a:t>
            </a: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journal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Availability After Publication:</a:t>
            </a:r>
            <a:b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paper will be available online through the </a:t>
            </a: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Xplore Digital Library</a:t>
            </a: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it can be accessed and cited by researchers globally.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322df73c1_0_8"/>
          <p:cNvSpPr txBox="1"/>
          <p:nvPr/>
        </p:nvSpPr>
        <p:spPr>
          <a:xfrm>
            <a:off x="609600" y="-23396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40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9" name="Google Shape;199;g3d322df73c1_0_8"/>
          <p:cNvSpPr txBox="1"/>
          <p:nvPr/>
        </p:nvSpPr>
        <p:spPr>
          <a:xfrm>
            <a:off x="359425" y="1009050"/>
            <a:ext cx="11190000" cy="48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I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N. Maghfira, T. Basaruddin, and A. Krisnadhi, “Infant Cry Classification Using CNN–RNN,” </a:t>
            </a:r>
            <a:r>
              <a:rPr i="1" lang="en-I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Journal of Physics: Conference Series</a:t>
            </a:r>
            <a:r>
              <a:rPr lang="en-I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1528, p. 012019, 2020. doi: 10.1088/1742-6596/1528/1/012019.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I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C. Ji, T. B. Mudiyanselage, Y. Gao, and Y. Pan, “A Review of Infant Cry Analysis and Classification,” </a:t>
            </a:r>
            <a:r>
              <a:rPr i="1" lang="en-I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EURASIP Journal on Audio, Speech, and Music Processing</a:t>
            </a:r>
            <a:r>
              <a:rPr lang="en-I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2021, no. 8, pp. 1–17, 2021. doi: 10.1186/s13636-021-00197-5.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I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A. K. Ashwini, P. M. D. R. Vincent, K. Srinivasan, and C.-Y. Chang, “Deep Learning Assisted Neonatal Cry Classification via Support Vector Machine Models,” </a:t>
            </a:r>
            <a:r>
              <a:rPr i="1" lang="en-I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Frontiers in Public Health</a:t>
            </a:r>
            <a:r>
              <a:rPr lang="en-I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9, article 670352, 2021. doi: 10.3389/fpubh.2021.670352.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○"/>
            </a:pPr>
            <a:r>
              <a:rPr lang="en-I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S. Kavitha, P. M. D. R. Vincent, and K. Srinivasan, “An Efficient Classification of Neonates Cry Signal Using Deep Learning Assisted Grouped Support Vector Network,” </a:t>
            </a:r>
            <a:r>
              <a:rPr i="1" lang="en-I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Frontiers in Public Health</a:t>
            </a:r>
            <a:r>
              <a:rPr lang="en-I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9, article 670352, 2021. doi: 10.3389/fpubh.2021.670352.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/>
        </p:nvSpPr>
        <p:spPr>
          <a:xfrm>
            <a:off x="3663723" y="2505670"/>
            <a:ext cx="4864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IN" sz="5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Thank You!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eme9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